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Utilisation %</c:v>
                </c:pt>
              </c:strCache>
            </c:strRef>
          </c:tx>
          <c:spPr>
            <a:solidFill>
              <a:srgbClr val="2E8B8B"/>
            </a:solidFill>
            <a:ln w="25400" cap="flat">
              <a:solidFill>
                <a:srgbClr val="2E8B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8B8B"/>
              </a:solidFill>
              <a:ln w="9525" cap="flat">
                <a:solidFill>
                  <a:srgbClr val="2E8B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Jul</c:v>
                  </c:pt>
                  <c:pt idx="1">
                    <c:v>Aug</c:v>
                  </c:pt>
                  <c:pt idx="2">
                    <c:v>Sep</c:v>
                  </c:pt>
                  <c:pt idx="3">
                    <c:v>Oct</c:v>
                  </c:pt>
                  <c:pt idx="4">
                    <c:v>Nov</c:v>
                  </c:pt>
                  <c:pt idx="5">
                    <c:v>Dec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27</c:v>
                </c:pt>
                <c:pt idx="2">
                  <c:v>38</c:v>
                </c:pt>
                <c:pt idx="3">
                  <c:v>52</c:v>
                </c:pt>
                <c:pt idx="4">
                  <c:v>61</c:v>
                </c:pt>
                <c:pt idx="5">
                  <c:v>68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MIZAN.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Dammam Cold-Chain Hub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2E6"/>
                </a:solidFill>
              </a:rPr>
              <a:t>Commissioning Report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BA"/>
                </a:solidFill>
              </a:rPr>
              <a:t>Mizan Pharma Logistics · 28 June 2026 · Internal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5F"/>
                </a:solidFill>
              </a:rPr>
              <a:t>Delivered scope and capability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GDP-WHO certified: 2-8C (4,200 pallet positions), -20C (800), -70C (120) — the only private -70C capacity in Eastern Province.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Capex SAR 96M within envelope; commissioned on schedule (Q2-2026 per Group Strategy §02).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IoT temperature telemetry on 100% of positions; Tatmeen aggregation-ready receiving lines.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Direct enabler for: NUPCO H2 RFP cold-chain lots, GLP-1 volume growth, and the group logistics insourcing case (SYN-01).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5F"/>
                </a:solidFill>
              </a:rPr>
              <a:t>Ramp plan and utilisation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09728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589520" y="1188720"/>
            <a:ext cx="4206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Anchor volumes: Tamween Eastern Province transfers from Q3; vaccine campaign storage Q4.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Break-even utilisation 55% — forecast reached Nov-2026.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Insourcing BATNA value in Gulf Cold-Chain renegotiation already exercised (3-Jun session).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2026-07-27T10:52:43Z</dcterms:created>
  <dcterms:modified xsi:type="dcterms:W3CDTF">2026-07-27T10:52:43Z</dcterms:modified>
</cp:coreProperties>
</file>