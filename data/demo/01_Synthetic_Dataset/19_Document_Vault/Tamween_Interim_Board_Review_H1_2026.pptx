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NUPCO call-off surge</c:v>
                  </c:pt>
                  <c:pt idx="1">
                    <c:v>Chain onboarding</c:v>
                  </c:pt>
                  <c:pt idx="2">
                    <c:v>Formulary win</c:v>
                  </c:pt>
                  <c:pt idx="3">
                    <c:v>KAUST order pause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5.7</c:v>
                </c:pt>
                <c:pt idx="2">
                  <c:v>0.6</c:v>
                </c:pt>
                <c:pt idx="3">
                  <c:v>-2.2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MIZAN.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Tamween Pharma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2E6"/>
                </a:solidFill>
              </a:rPr>
              <a:t>Interim Board Review — H1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BA"/>
                </a:solidFill>
              </a:rPr>
              <a:t>Board of Directors · 2 June 2026 · Strictly Confidential · Prepared by BU Finance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H1 2026 at a glance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</a:rPr>
              <a:t>Revenue (BU)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SAR 1,268M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4F"/>
                </a:solidFill>
              </a:rPr>
              <a:t>+74M vs budget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</a:rPr>
              <a:t>EBITDA margin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45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7.0%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E3D"/>
                </a:solidFill>
              </a:rPr>
              <a:t>-20bps vs 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</a:rPr>
              <a:t>Division net revenue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SAR 385M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4F"/>
                </a:solidFill>
              </a:rPr>
              <a:t>+13.0M vs 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</a:rPr>
              <a:t>Cash leakage identified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</a:rPr>
              <a:t>SAR 1.2M + 5.2M historic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</a:rPr>
              <a:t>13 remediations tracked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Revenue movers vs budget (division, H1) — fully attributed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188720"/>
            <a:ext cx="4023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Every variance ties to a registered business event (EV-2026-01…04) with transaction evidence.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Government now 28.5% of division revenue — concentration accepted ahead of RFP; diversification plan in place.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Modern Pharmacy recovery ahead of plan post-Red Sea churn.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Margin: 20bps behind — cost events and remediation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Non-volume cost overrun SAR 9.7M BU-wide: logistics +2.9 (cold-chain escalation, fuel, NUPCO volumes), utilities +2.4 (tariff + Qassim recharge — now settled), payroll +2.1 (Saudisation step), other +0.3.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Cash-leakage remediation: 13 items in decision log; SAR 4.65M already recovered/settled (incl. Qassim SAR 4.43M intercompany).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Cold-chain contract renegotiation launched 3-Jun with insourcing BATNA (Dammam hub live).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KAUST restructuring mandate granted 7-Jun: rebate cap 6%, tiered service pricing; order pause contained.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Controls hardening: AP SOP v3 effective 1-Jul (no-PO-no-pay, duplicate blocks, hedge checks).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</a:rPr>
              <a:t>Asks of the 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Note the H1 performance and remediation progress (SAR 6.4M total identified; 72% actioned).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Endorse the NUPCO H2 RFP bid posture — volume-led with availability-bonus pricing (value-based pilot).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Approve continuation of StrategyOS rollout to remaining regions (Central Region pilot validated).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Support group-level programmes where Tamween is proof case: energy PPA, logistics insourcing, recharge policy.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2026-07-27T10:52:43Z</dcterms:created>
  <dcterms:modified xsi:type="dcterms:W3CDTF">2026-07-27T10:52:43Z</dcterms:modified>
</cp:coreProperties>
</file>